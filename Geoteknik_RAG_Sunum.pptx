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Parça sayısı</c:v>
                </c:pt>
              </c:strCache>
            </c:strRef>
          </c:tx>
          <c:spPr>
            <a:solidFill>
              <a:srgbClr val="C2683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B2420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DSİ
(jeoteknik etüt)</c:v>
                  </c:pt>
                  <c:pt idx="1">
                    <c:v>KGM
(karayolu)</c:v>
                  </c:pt>
                  <c:pt idx="2">
                    <c:v>FHWA
(ABD)</c:v>
                  </c:pt>
                  <c:pt idx="3">
                    <c:v>Eurocode 7
(TS EN)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203</c:v>
                </c:pt>
                <c:pt idx="1">
                  <c:v>81</c:v>
                </c:pt>
                <c:pt idx="2">
                  <c:v>1322</c:v>
                </c:pt>
                <c:pt idx="3">
                  <c:v>381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2B2420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B242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2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645920"/>
            <a:ext cx="4206240" cy="4206240"/>
          </a:xfrm>
          <a:prstGeom prst="ellipse">
            <a:avLst/>
          </a:prstGeom>
          <a:solidFill>
            <a:srgbClr val="C2683F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480560"/>
            <a:ext cx="3108960" cy="3108960"/>
          </a:xfrm>
          <a:prstGeom prst="ellipse">
            <a:avLst/>
          </a:prstGeom>
          <a:solidFill>
            <a:srgbClr val="6F8268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5544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26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YAZ OKULU PROJESİ · YEREL YAPAY ZEKÂ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2011680"/>
            <a:ext cx="10058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Yerel Geoteknik</a:t>
            </a:r>
            <a:endParaRPr lang="en-US" sz="48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Soru-Cevap Asistanı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640080" y="39776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9CF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Foundry Local ile %100 offline RAG (Retrieval-Augmented Generation)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58521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Meriç Çırık</a:t>
            </a:r>
            <a:pPr indent="0" marL="0">
              <a:buNone/>
            </a:pPr>
            <a:r>
              <a:rPr lang="en-US" sz="1400" dirty="0">
                <a:solidFill>
                  <a:srgbClr val="B9AD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·    Veri: DSİ · Karayolları (KGM) · FHWA · Eurocode 7 (TS EN)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Genel LLM'ler özel/teknik belgelerde yanılır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393338" cy="2651760"/>
          </a:xfrm>
          <a:prstGeom prst="roundRect">
            <a:avLst>
              <a:gd name="adj" fmla="val 3103"/>
            </a:avLst>
          </a:prstGeom>
          <a:solidFill>
            <a:srgbClr val="F1EEE9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148840"/>
            <a:ext cx="566928" cy="566928"/>
          </a:xfrm>
          <a:prstGeom prst="ellipse">
            <a:avLst/>
          </a:prstGeom>
          <a:solidFill>
            <a:srgbClr val="C2683F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1488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60120" y="2880360"/>
            <a:ext cx="27532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Halüsinasyon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960120" y="3337560"/>
            <a:ext cx="275325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5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Genel bir LLM, eğitim verisinde olmayan kurumsal/teknik bir soruya kendinden emin ama yanlış cevap verebilir.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99178" y="1828800"/>
            <a:ext cx="3393338" cy="2651760"/>
          </a:xfrm>
          <a:prstGeom prst="roundRect">
            <a:avLst>
              <a:gd name="adj" fmla="val 3103"/>
            </a:avLst>
          </a:prstGeom>
          <a:solidFill>
            <a:srgbClr val="F1EEE9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19218" y="2148840"/>
            <a:ext cx="566928" cy="566928"/>
          </a:xfrm>
          <a:prstGeom prst="ellipse">
            <a:avLst/>
          </a:prstGeom>
          <a:solidFill>
            <a:srgbClr val="C2683F"/>
          </a:solidFill>
          <a:ln/>
        </p:spPr>
      </p:sp>
      <p:sp>
        <p:nvSpPr>
          <p:cNvPr id="11" name="Text 9"/>
          <p:cNvSpPr/>
          <p:nvPr/>
        </p:nvSpPr>
        <p:spPr>
          <a:xfrm>
            <a:off x="4719218" y="21488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719218" y="2880360"/>
            <a:ext cx="27532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Gizlilik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4719218" y="3337560"/>
            <a:ext cx="275325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5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Şartname ve etüt raporları kuruma özel veridir; buluta göndermek istenmez.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158277" y="1828800"/>
            <a:ext cx="3393338" cy="2651760"/>
          </a:xfrm>
          <a:prstGeom prst="roundRect">
            <a:avLst>
              <a:gd name="adj" fmla="val 3103"/>
            </a:avLst>
          </a:prstGeom>
          <a:solidFill>
            <a:srgbClr val="F1EEE9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78317" y="2148840"/>
            <a:ext cx="566928" cy="566928"/>
          </a:xfrm>
          <a:prstGeom prst="ellipse">
            <a:avLst/>
          </a:prstGeom>
          <a:solidFill>
            <a:srgbClr val="C2683F"/>
          </a:solidFill>
          <a:ln/>
        </p:spPr>
      </p:sp>
      <p:sp>
        <p:nvSpPr>
          <p:cNvPr id="16" name="Text 14"/>
          <p:cNvSpPr/>
          <p:nvPr/>
        </p:nvSpPr>
        <p:spPr>
          <a:xfrm>
            <a:off x="8478317" y="21488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478317" y="2880360"/>
            <a:ext cx="27532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İnternetsiz çalışma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8478317" y="3337560"/>
            <a:ext cx="275325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5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Sahada / güvenli ağda internet olmayabilir — çözüm tamamen cihazda çalışmalı.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0080" y="489204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26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Çözüm: RAG.  </a:t>
            </a:r>
            <a:pPr algn="ctr" indent="0" marL="0">
              <a:buNone/>
            </a:pPr>
            <a:r>
              <a:rPr lang="en-US" sz="1700" dirty="0">
                <a:solidFill>
                  <a:srgbClr val="2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Cevabı önce kendi belgelerinden </a:t>
            </a:r>
            <a:pPr algn="ctr" indent="0" marL="0">
              <a:buNone/>
            </a:pPr>
            <a:r>
              <a:rPr lang="en-US" sz="1700" b="1" dirty="0">
                <a:solidFill>
                  <a:srgbClr val="2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getir</a:t>
            </a:r>
            <a:pPr algn="ctr" indent="0" marL="0">
              <a:buNone/>
            </a:pPr>
            <a:r>
              <a:rPr lang="en-US" sz="1700" dirty="0">
                <a:solidFill>
                  <a:srgbClr val="2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modele bağlam olarak ver, sonra </a:t>
            </a:r>
            <a:pPr algn="ctr" indent="0" marL="0">
              <a:buNone/>
            </a:pPr>
            <a:r>
              <a:rPr lang="en-US" sz="1700" b="1" dirty="0">
                <a:solidFill>
                  <a:srgbClr val="2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üret</a:t>
            </a:r>
            <a:pPr algn="ctr" indent="0" marL="0">
              <a:buNone/>
            </a:pPr>
            <a:r>
              <a:rPr lang="en-US" sz="1700" dirty="0">
                <a:solidFill>
                  <a:srgbClr val="2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kaynağa dayalı, doğrulanabilir cevap.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YAKLAŞIM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RAG nasıl çalışır: Getir → Zenginleştir → Üret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194560"/>
            <a:ext cx="3210458" cy="2468880"/>
          </a:xfrm>
          <a:prstGeom prst="roundRect">
            <a:avLst>
              <a:gd name="adj" fmla="val 3333"/>
            </a:avLst>
          </a:prstGeom>
          <a:solidFill>
            <a:srgbClr val="ECF0EA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468880"/>
            <a:ext cx="603504" cy="603504"/>
          </a:xfrm>
          <a:prstGeom prst="ellipse">
            <a:avLst/>
          </a:prstGeom>
          <a:solidFill>
            <a:srgbClr val="6F8268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46888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691640" y="2505456"/>
            <a:ext cx="20217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GETİR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691640" y="2852928"/>
            <a:ext cx="20217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5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60120" y="3429000"/>
            <a:ext cx="257037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5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Soruyu vektöre çevir, SQLite'taki belge parçaları içinden en benzerlerini bul.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804818" y="2194560"/>
            <a:ext cx="7315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26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4490618" y="2194560"/>
            <a:ext cx="3210458" cy="2468880"/>
          </a:xfrm>
          <a:prstGeom prst="roundRect">
            <a:avLst>
              <a:gd name="adj" fmla="val 3333"/>
            </a:avLst>
          </a:prstGeom>
          <a:solidFill>
            <a:srgbClr val="F1EEE9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10658" y="2468880"/>
            <a:ext cx="603504" cy="603504"/>
          </a:xfrm>
          <a:prstGeom prst="ellipse">
            <a:avLst/>
          </a:prstGeom>
          <a:solidFill>
            <a:srgbClr val="C2683F"/>
          </a:solidFill>
          <a:ln/>
        </p:spPr>
      </p:sp>
      <p:sp>
        <p:nvSpPr>
          <p:cNvPr id="13" name="Text 11"/>
          <p:cNvSpPr/>
          <p:nvPr/>
        </p:nvSpPr>
        <p:spPr>
          <a:xfrm>
            <a:off x="4810658" y="246888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542178" y="2505456"/>
            <a:ext cx="20217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ZENGİNLEŞTİR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542178" y="2852928"/>
            <a:ext cx="20217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5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10658" y="3429000"/>
            <a:ext cx="257037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5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Bulunan parçaları, soruyla birlikte modele 'bağlam' olarak ekle.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655357" y="2194560"/>
            <a:ext cx="7315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26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000" dirty="0"/>
          </a:p>
        </p:txBody>
      </p:sp>
      <p:sp>
        <p:nvSpPr>
          <p:cNvPr id="18" name="Shape 16"/>
          <p:cNvSpPr/>
          <p:nvPr/>
        </p:nvSpPr>
        <p:spPr>
          <a:xfrm>
            <a:off x="8341157" y="2194560"/>
            <a:ext cx="3210458" cy="2468880"/>
          </a:xfrm>
          <a:prstGeom prst="roundRect">
            <a:avLst>
              <a:gd name="adj" fmla="val 3333"/>
            </a:avLst>
          </a:prstGeom>
          <a:solidFill>
            <a:srgbClr val="ECF0EA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661197" y="2468880"/>
            <a:ext cx="603504" cy="603504"/>
          </a:xfrm>
          <a:prstGeom prst="ellipse">
            <a:avLst/>
          </a:prstGeom>
          <a:solidFill>
            <a:srgbClr val="2B2420"/>
          </a:solidFill>
          <a:ln/>
        </p:spPr>
      </p:sp>
      <p:sp>
        <p:nvSpPr>
          <p:cNvPr id="20" name="Text 18"/>
          <p:cNvSpPr/>
          <p:nvPr/>
        </p:nvSpPr>
        <p:spPr>
          <a:xfrm>
            <a:off x="8661197" y="246888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392717" y="2505456"/>
            <a:ext cx="20217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ÜRET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392717" y="2852928"/>
            <a:ext cx="20217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5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661197" y="3429000"/>
            <a:ext cx="257037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5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Yerel LLM (Foundry) yalnızca bu bağlama dayanarak, kaynak göstererek cevap yazar.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0080" y="502920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6F8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Sonuç: daha az halüsinasyon, kaynak gösteren ve bilmediğinde "bilmiyorum" diyebilen bir asistan.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MIMARI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Her şey tek makinede — buluta hiç çıkmadan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2487854" cy="2834640"/>
          </a:xfrm>
          <a:prstGeom prst="roundRect">
            <a:avLst>
              <a:gd name="adj" fmla="val 3308"/>
            </a:avLst>
          </a:prstGeom>
          <a:solidFill>
            <a:srgbClr val="F1EEE9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194560"/>
            <a:ext cx="457200" cy="457200"/>
          </a:xfrm>
          <a:prstGeom prst="ellipse">
            <a:avLst/>
          </a:prstGeom>
          <a:solidFill>
            <a:srgbClr val="6F8268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788920"/>
            <a:ext cx="193921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Arayüz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14400" y="3246120"/>
            <a:ext cx="193921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5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web UI + CLI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4297680"/>
            <a:ext cx="19392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F8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Kullanıcı sorusu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109646" y="1920240"/>
            <a:ext cx="338328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26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3447974" y="1920240"/>
            <a:ext cx="2487854" cy="2834640"/>
          </a:xfrm>
          <a:prstGeom prst="roundRect">
            <a:avLst>
              <a:gd name="adj" fmla="val 3308"/>
            </a:avLst>
          </a:prstGeom>
          <a:solidFill>
            <a:srgbClr val="F1EEE9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722294" y="2194560"/>
            <a:ext cx="457200" cy="457200"/>
          </a:xfrm>
          <a:prstGeom prst="ellipse">
            <a:avLst/>
          </a:prstGeom>
          <a:solidFill>
            <a:srgbClr val="C2683F"/>
          </a:solidFill>
          <a:ln/>
        </p:spPr>
      </p:sp>
      <p:sp>
        <p:nvSpPr>
          <p:cNvPr id="12" name="Text 10"/>
          <p:cNvSpPr/>
          <p:nvPr/>
        </p:nvSpPr>
        <p:spPr>
          <a:xfrm>
            <a:off x="3722294" y="2788920"/>
            <a:ext cx="193921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722294" y="3246120"/>
            <a:ext cx="193921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5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Getir + Zenginleştir + Üret orkestrasyonu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722294" y="4297680"/>
            <a:ext cx="19392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26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rag_pipeline.py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917540" y="1920240"/>
            <a:ext cx="338328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26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6255868" y="1920240"/>
            <a:ext cx="2487854" cy="2834640"/>
          </a:xfrm>
          <a:prstGeom prst="roundRect">
            <a:avLst>
              <a:gd name="adj" fmla="val 3308"/>
            </a:avLst>
          </a:prstGeom>
          <a:solidFill>
            <a:srgbClr val="F1EEE9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530188" y="2194560"/>
            <a:ext cx="457200" cy="457200"/>
          </a:xfrm>
          <a:prstGeom prst="ellipse">
            <a:avLst/>
          </a:prstGeom>
          <a:solidFill>
            <a:srgbClr val="6B5E54"/>
          </a:solidFill>
          <a:ln/>
        </p:spPr>
      </p:sp>
      <p:sp>
        <p:nvSpPr>
          <p:cNvPr id="18" name="Text 16"/>
          <p:cNvSpPr/>
          <p:nvPr/>
        </p:nvSpPr>
        <p:spPr>
          <a:xfrm>
            <a:off x="6530188" y="2788920"/>
            <a:ext cx="193921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 Katmanı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530188" y="3246120"/>
            <a:ext cx="193921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5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SQLite: belge parçaları + embedding vektörleri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530188" y="4297680"/>
            <a:ext cx="19392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5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5228 parça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725433" y="1920240"/>
            <a:ext cx="338328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26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9063761" y="1920240"/>
            <a:ext cx="2487854" cy="2834640"/>
          </a:xfrm>
          <a:prstGeom prst="roundRect">
            <a:avLst>
              <a:gd name="adj" fmla="val 3308"/>
            </a:avLst>
          </a:prstGeom>
          <a:solidFill>
            <a:srgbClr val="F1EEE9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338081" y="2194560"/>
            <a:ext cx="457200" cy="457200"/>
          </a:xfrm>
          <a:prstGeom prst="ellipse">
            <a:avLst/>
          </a:prstGeom>
          <a:solidFill>
            <a:srgbClr val="2B2420"/>
          </a:solidFill>
          <a:ln/>
        </p:spPr>
      </p:sp>
      <p:sp>
        <p:nvSpPr>
          <p:cNvPr id="24" name="Text 22"/>
          <p:cNvSpPr/>
          <p:nvPr/>
        </p:nvSpPr>
        <p:spPr>
          <a:xfrm>
            <a:off x="9338081" y="2788920"/>
            <a:ext cx="193921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Yapay Zekâ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9338081" y="3246120"/>
            <a:ext cx="193921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5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Foundry Local LLM (phi-4-mini, GPU) + embedding modeli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338081" y="4297680"/>
            <a:ext cx="19392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Cihazda, offline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0080" y="507492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5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akışı: Soru → Pipeline → (SQLite'tan benzer parçalar) → Foundry LLM → kaynaklı cevap.  İnternet gerekmez.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TEKNOLOJI YIĞINI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Bileşenler ve tercihler</a:t>
            </a:r>
            <a:endParaRPr lang="en-US" sz="3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74520"/>
          <a:ext cx="10911535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3291840"/>
                <a:gridCol w="4873752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Bileşen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E2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4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Seçim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E2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4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Neden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E2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420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 Çalışma Zamanı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C268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Microsoft Foundry Local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Cihazda offline LLM; OpenAI uyumlu REST API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Dil Modeli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C268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phi-4-mini (GPU)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GB VRAM'e sığıyor; düzgün Türkçe, 7-15 sn. qwen2.5-7b CPU'da 1-2 dk sürüyordu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Embedding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C268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paraphrase-multilingual-MiniLM-L12-v2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Çok dilli; Türkçe soru ↔ Türkçe metin eşleşmesi için kritik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Veritabanı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C268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SQLite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Sunucusuz, tek dosya; belge + vektör saklama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Retrieval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C268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Hibrit (vektör + anahtar kelime)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Kosinüs benzerliği + kelime eşleşme katkısı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Arayüz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C268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Streamlit + CLI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Masaüstü kısayolundan çift tıkla başlatılır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BILGI TABANI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Gerçek kurumsal kaynaklar — 1.995 parça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920240"/>
          <a:ext cx="676656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772400" y="1920240"/>
            <a:ext cx="3779215" cy="4297680"/>
          </a:xfrm>
          <a:prstGeom prst="roundRect">
            <a:avLst>
              <a:gd name="adj" fmla="val 2178"/>
            </a:avLst>
          </a:prstGeom>
          <a:solidFill>
            <a:srgbClr val="ECF0EA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046720" y="21945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Kaynaklar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046720" y="2697480"/>
            <a:ext cx="3230575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🇹🇷 DSİ — Jeoteknik Etüt Şartnamesi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🇹🇷 KGM (Karayolları) — Teknik Şartname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🇺🇸 FHWA — Shallow Foundations &amp; Soils and Foundations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🇪🇺 Eurocode 7 / TS EN 1997-2 — zemin araştırma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40080" y="6355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5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→ metin (pypdf; Türkçe tablolar için pdfplumber) → 1200 karakterlik parçalar → embedding → SQLite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Örnek soru-cevap (TR ve EN, kaynak göstererek)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227168" cy="4297680"/>
          </a:xfrm>
          <a:prstGeom prst="roundRect">
            <a:avLst>
              <a:gd name="adj" fmla="val 1915"/>
            </a:avLst>
          </a:prstGeom>
          <a:solidFill>
            <a:srgbClr val="F1EEE9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60120" y="2148840"/>
            <a:ext cx="45870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26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S:  </a:t>
            </a:r>
            <a:pPr indent="0" marL="0">
              <a:buNone/>
            </a:pPr>
            <a:r>
              <a:rPr lang="en-US" sz="1500" b="1" dirty="0">
                <a:solidFill>
                  <a:srgbClr val="2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Yüzeysel temelin taşıma gücünü hangi faktörler etkiler?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60120" y="3017520"/>
            <a:ext cx="458708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F8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C:  </a:t>
            </a:r>
            <a:pPr indent="0" marL="0">
              <a:buNone/>
            </a:pPr>
            <a:r>
              <a:rPr lang="en-US" sz="1350" dirty="0">
                <a:solidFill>
                  <a:srgbClr val="2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Temel şekli, yeraltı suyu seviyesi, gömme derinliği, zemin eğimi, yükleme açısı ve kayma türü gibi düzeltme faktörleri taşıma gücünü etkiler. Sürtünme açısındaki küçük değişim Nc/Nγ/Nq faktörlerini belirgin değiştirir.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960120" y="5623560"/>
            <a:ext cx="4587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5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📎 FHWA_GEC6_shallow_foundations.txt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324448" y="1874520"/>
            <a:ext cx="5227168" cy="4297680"/>
          </a:xfrm>
          <a:prstGeom prst="roundRect">
            <a:avLst>
              <a:gd name="adj" fmla="val 1915"/>
            </a:avLst>
          </a:prstGeom>
          <a:solidFill>
            <a:srgbClr val="F1EEE9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644488" y="2148840"/>
            <a:ext cx="45870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26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S:  </a:t>
            </a:r>
            <a:pPr indent="0" marL="0">
              <a:buNone/>
            </a:pPr>
            <a:r>
              <a:rPr lang="en-US" sz="1500" b="1" dirty="0">
                <a:solidFill>
                  <a:srgbClr val="2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affects the bearing capacity of a shallow foundation?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644488" y="3017520"/>
            <a:ext cx="458708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F8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C:  </a:t>
            </a:r>
            <a:pPr indent="0" marL="0">
              <a:buNone/>
            </a:pPr>
            <a:r>
              <a:rPr lang="en-US" sz="1350" dirty="0">
                <a:solidFill>
                  <a:srgbClr val="2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Bearing capacity is governed by shear failure pressure divided by a factor of safety (typically 2.5–3.5, min 3.0 for bridges) and by settlement limits. Correction factors account for footing shape, groundwater, embedment and loading.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644488" y="5623560"/>
            <a:ext cx="4587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5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📎 FHWA_GEC6_shallow_foundations.txt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ÇIKARIMLAR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Lessons learned — yol boyunca öğrendiklerimiz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5272888" cy="1783080"/>
          </a:xfrm>
          <a:prstGeom prst="roundRect">
            <a:avLst>
              <a:gd name="adj" fmla="val 4615"/>
            </a:avLst>
          </a:prstGeom>
          <a:solidFill>
            <a:srgbClr val="F1EEE9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12848"/>
            <a:ext cx="502920" cy="502920"/>
          </a:xfrm>
          <a:prstGeom prst="ellipse">
            <a:avLst/>
          </a:prstGeom>
          <a:solidFill>
            <a:srgbClr val="C2683F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2128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600200" y="2194560"/>
            <a:ext cx="4084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Embedding dil uyumu kritik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2834640"/>
            <a:ext cx="47242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5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İngilizce embedding Türkçe metni iyi eşleştiremedi; çok dilli modele geçince Türkçe cevap kalitesi belirgin arttı.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78728" y="1920240"/>
            <a:ext cx="5272888" cy="1783080"/>
          </a:xfrm>
          <a:prstGeom prst="roundRect">
            <a:avLst>
              <a:gd name="adj" fmla="val 4615"/>
            </a:avLst>
          </a:prstGeom>
          <a:solidFill>
            <a:srgbClr val="ECF0EA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53048" y="2212848"/>
            <a:ext cx="502920" cy="502920"/>
          </a:xfrm>
          <a:prstGeom prst="ellipse">
            <a:avLst/>
          </a:prstGeom>
          <a:solidFill>
            <a:srgbClr val="6F8268"/>
          </a:solidFill>
          <a:ln/>
        </p:spPr>
      </p:sp>
      <p:sp>
        <p:nvSpPr>
          <p:cNvPr id="11" name="Text 9"/>
          <p:cNvSpPr/>
          <p:nvPr/>
        </p:nvSpPr>
        <p:spPr>
          <a:xfrm>
            <a:off x="6553048" y="22128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238848" y="2194560"/>
            <a:ext cx="4084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Donanım sınırı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553048" y="2834640"/>
            <a:ext cx="47242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5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GB GPU, modelin TensorRT sürümüne yetmedi (CUDA OOM); model CPU'da çalıştırılarak çözüldü.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4023360"/>
            <a:ext cx="5272888" cy="1783080"/>
          </a:xfrm>
          <a:prstGeom prst="roundRect">
            <a:avLst>
              <a:gd name="adj" fmla="val 4615"/>
            </a:avLst>
          </a:prstGeom>
          <a:solidFill>
            <a:srgbClr val="F1EEE9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14400" y="4315968"/>
            <a:ext cx="502920" cy="502920"/>
          </a:xfrm>
          <a:prstGeom prst="ellipse">
            <a:avLst/>
          </a:prstGeom>
          <a:solidFill>
            <a:srgbClr val="C2683F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43159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600200" y="4297680"/>
            <a:ext cx="4084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Foundry'de embedding yok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14400" y="4937760"/>
            <a:ext cx="47242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5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Katalogda embedding modeli olmadığı için embedding sentence-transformers ile yapıldı (hibrit yaklaşım).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278728" y="4023360"/>
            <a:ext cx="5272888" cy="1783080"/>
          </a:xfrm>
          <a:prstGeom prst="roundRect">
            <a:avLst>
              <a:gd name="adj" fmla="val 4615"/>
            </a:avLst>
          </a:prstGeom>
          <a:solidFill>
            <a:srgbClr val="ECF0EA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53048" y="4315968"/>
            <a:ext cx="502920" cy="502920"/>
          </a:xfrm>
          <a:prstGeom prst="ellipse">
            <a:avLst/>
          </a:prstGeom>
          <a:solidFill>
            <a:srgbClr val="6F8268"/>
          </a:solidFill>
          <a:ln/>
        </p:spPr>
      </p:sp>
      <p:sp>
        <p:nvSpPr>
          <p:cNvPr id="21" name="Text 19"/>
          <p:cNvSpPr/>
          <p:nvPr/>
        </p:nvSpPr>
        <p:spPr>
          <a:xfrm>
            <a:off x="6553048" y="43159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238848" y="4297680"/>
            <a:ext cx="4084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Chunk boyutu &amp; retrieval rekabeti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553048" y="4937760"/>
            <a:ext cx="47242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5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Tekrar eden şartnamelerde aynı terim çok yerde geçtiğinden, spesifik bir kural üst sıralara çıkmayabiliyor.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SINIRLAMALAR &amp; GELECEK İŞ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Daha da iyiye götürmek için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5227168" cy="4023360"/>
          </a:xfrm>
          <a:prstGeom prst="roundRect">
            <a:avLst>
              <a:gd name="adj" fmla="val 2045"/>
            </a:avLst>
          </a:prstGeom>
          <a:solidFill>
            <a:srgbClr val="F1EEE9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324448" y="1920240"/>
            <a:ext cx="5227168" cy="4023360"/>
          </a:xfrm>
          <a:prstGeom prst="roundRect">
            <a:avLst>
              <a:gd name="adj" fmla="val 2045"/>
            </a:avLst>
          </a:prstGeom>
          <a:solidFill>
            <a:srgbClr val="ECF0EA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120" y="2194560"/>
            <a:ext cx="458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268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Mevcut sınırlamalar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60120" y="2743200"/>
            <a:ext cx="4587088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Spesifik kural her zaman top-k'ya girmeyebilir (retrieval recall)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phi-4-mini GPU'da yanıt 7-15 saniye sürer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Türkçe PDF tabloları kısmen dağınık çıkabiliyor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Tüm embedding'ler bellekte taranıyor (büyük ölçekte yavaşlar)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44488" y="2194560"/>
            <a:ext cx="458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F82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Gelecek iş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644488" y="2743200"/>
            <a:ext cx="4587088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Cross-encoder reranker ile yeniden sıralama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Gerçek vektör indeksi (FAISS / sqlite-vec)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Daha fazla kurumsal belge ekleme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Yanıt hızı için daha küçük model seçeneği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B2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572000"/>
            <a:ext cx="4023360" cy="4023360"/>
          </a:xfrm>
          <a:prstGeom prst="ellipse">
            <a:avLst/>
          </a:prstGeom>
          <a:solidFill>
            <a:srgbClr val="C2683F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-1371600"/>
            <a:ext cx="3474720" cy="3474720"/>
          </a:xfrm>
          <a:prstGeom prst="ellipse">
            <a:avLst/>
          </a:prstGeom>
          <a:solidFill>
            <a:srgbClr val="6F8268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26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ÖZET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10515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Çalışan, %100 offline bir geoteknik</a:t>
            </a:r>
            <a:endParaRPr lang="en-US" sz="3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soru-cevap asistanı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40080" y="35661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D9CF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Foundry Local + RAG + SQLite </a:t>
            </a:r>
            <a:pPr indent="0" marL="0">
              <a:buNone/>
            </a:pPr>
            <a:r>
              <a:rPr lang="en-US" sz="1700" dirty="0">
                <a:solidFill>
                  <a:srgbClr val="D9CF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DSİ / KGM / FHWA / Eurocode 7 </a:t>
            </a:r>
            <a:pPr indent="0" marL="0">
              <a:buNone/>
            </a:pPr>
            <a:r>
              <a:rPr lang="en-US" sz="1700" dirty="0">
                <a:solidFill>
                  <a:srgbClr val="D9CF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TR &amp; EN, kaynak göstererek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40080" y="49377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268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Teşekkürler — sorular?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Yerel Geoteknik RAG Asistanı</dc:title>
  <dc:subject>PptxGenJS Presentation</dc:subject>
  <dc:creator>Meriç Çırık</dc:creator>
  <cp:lastModifiedBy>Meriç Çırık</cp:lastModifiedBy>
  <cp:revision>1</cp:revision>
  <dcterms:created xsi:type="dcterms:W3CDTF">2026-06-29T09:44:22Z</dcterms:created>
  <dcterms:modified xsi:type="dcterms:W3CDTF">2026-06-29T09:44:22Z</dcterms:modified>
</cp:coreProperties>
</file>